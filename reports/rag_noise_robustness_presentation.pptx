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86E"/>
          </a:solidFill>
          <a:ln>
            <a:solidFill>
              <a:srgbClr val="1E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面向噪声文档的鲁棒 RAG 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E486E"/>
                </a:solidFill>
                <a:latin typeface="Microsoft YaHei"/>
              </a:rPr>
              <a:t>Evidence-Gated Iterative RAG · 检索维度评估 · 错误案例分析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24612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624328"/>
            <a:ext cx="2916936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问题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候选文档混入 noise / misinfo / contradictory 信息。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514600"/>
            <a:ext cx="324612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624328"/>
            <a:ext cx="2916936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方法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证据门控 + 证据抽取 + 支持性验证。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514600"/>
            <a:ext cx="324612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624328"/>
            <a:ext cx="2916936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结论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EGI-RAG 稳定；EGI-RAG+ 降低误导但过度拒答。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研究问题：RAG 不只是 Answer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Microsoft YaHei"/>
              </a:rPr>
              <a:t>真实检索结果可能包含正确证据、普通噪声、高重叠误导文档和冲突文档。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18488"/>
            <a:ext cx="3145536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检索质量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正确证据是否进入 top-k？</a:t>
            </a:r>
            <a:br/>
            <a:r>
              <a:t>Recall@k / MRR / nDCG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7472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618488"/>
            <a:ext cx="3145536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证据忠实性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答案是否由证据支持？</a:t>
            </a:r>
            <a:br/>
            <a:r>
              <a:t>Evidence F1 / StrictSup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508760"/>
            <a:ext cx="347472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1618488"/>
            <a:ext cx="3145536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抗误导能力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是否采纳 wrong answer？</a:t>
            </a:r>
            <a:br/>
            <a:r>
              <a:t>Misinfo / Refusal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Naive/Rerank 可能检索到正确文档，但仍被 misinfo 带偏。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100% noise 场景下，合理行为应从“作答”转向“拒答”。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EGI-RAG 关注：先找到可信证据，再生成答案。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实验全流程与成员分工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Microsoft YaHei"/>
              </a:rPr>
              <a:t>从数据转换、controlled noise 构造，到 baseline / EGI-RAG 运行与扩展评估。</a:t>
            </a:r>
          </a:p>
        </p:txBody>
      </p:sp>
      <p:pic>
        <p:nvPicPr>
          <p:cNvPr id="4" name="Picture 3" descr="c__Users_86159_AppData_Roaming_Cursor_User_workspaceStorage_3ff2ee083c5798b7e8e919b8bb352912_images_55d29c2c4b1bda1766f5a75733e54b1a-96877d73-6a0a-4863-b290-c93967d718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95" y="960120"/>
            <a:ext cx="9429049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EGI-RAG 方法框架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Microsoft YaHei"/>
              </a:rPr>
              <a:t>核心：检索重排后进行证据级判断，只基于 supportive evidence 生成并验证答案。</a:t>
            </a:r>
          </a:p>
        </p:txBody>
      </p:sp>
      <p:pic>
        <p:nvPicPr>
          <p:cNvPr id="4" name="Picture 3" descr="c__Users_86159_AppData_Roaming_Cursor_User_workspaceStorage_3ff2ee083c5798b7e8e919b8bb352912_images_3e1982d0aa7dab8153c66f5495ccfe18-5618ca58-634c-41f4-9b1b-148ac8e83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95" y="960120"/>
            <a:ext cx="9429049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全量主结果：EGI-RAG vs. EGI-RAG+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43000"/>
          <a:ext cx="10789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/>
                <a:gridCol w="1541417"/>
                <a:gridCol w="1541417"/>
                <a:gridCol w="1541417"/>
                <a:gridCol w="1541417"/>
                <a:gridCol w="1541417"/>
                <a:gridCol w="1541418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Dataset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AnsAcc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Token F1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Misinfo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StrictSup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RGB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0.9200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0.8127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0.9667</a:t>
                      </a:r>
                    </a:p>
                  </a:txBody>
                  <a:tcPr marL="36576" marR="36576"/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RGB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EGI-RAG+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0.8600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0.7616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0.8767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RAMDocs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0.5320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0.5381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0.1100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0.7120</a:t>
                      </a:r>
                    </a:p>
                  </a:txBody>
                  <a:tcPr marL="36576" marR="36576"/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RAMDocs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EGI-RAG+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0.2260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0.2307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0.0080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0.2620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60120" y="3794760"/>
            <a:ext cx="4892040" cy="11430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3904488"/>
            <a:ext cx="4562855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EGI-RAG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RGB 上答案与证据支持性最高；RAMDocs 上降低误导但仍保持一定覆盖。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3794760"/>
            <a:ext cx="4892040" cy="1143000"/>
          </a:xfrm>
          <a:prstGeom prst="roundRect">
            <a:avLst/>
          </a:prstGeom>
          <a:solidFill>
            <a:srgbClr val="FAF0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3904488"/>
            <a:ext cx="4562855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EGI-RAG+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Misinfo 显著下降，但 hard gate 导致过度拒答，Accuracy 下降。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噪声比例实验：代表性趋势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05156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Setting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AnsAcc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Misinfo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StrictSup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RGB 0%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0.9600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0.9967</a:t>
                      </a:r>
                    </a:p>
                  </a:txBody>
                  <a:tcPr marL="36576" marR="36576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RGB 60%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0.9300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0.9667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RGB 100%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0.0400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0.1233</a:t>
                      </a:r>
                    </a:p>
                  </a:txBody>
                  <a:tcPr marL="36576" marR="36576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RAM 60%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118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0.5424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0.1017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0.7288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RAM 60%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EGI-RAG+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0.3100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0.0100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0.3500</a:t>
                      </a:r>
                    </a:p>
                  </a:txBody>
                  <a:tcPr marL="36576" marR="36576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RAM 100%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EGI-RAG+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0.2200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Microsoft YaHei"/>
                        </a:rPr>
                        <a:t>0.2900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4343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RGB：普通噪声下 EGI-RAG 仍稳定；100% noise 因无正确证据而大幅下降。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RAMDocs：misinfo 是主要风险；EGI-RAG+ 降低误导采纳，但拒答过多。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Custom Noise 与错误来源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96012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AnsAcc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Token F1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Misinfo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EvF1</a:t>
                      </a:r>
                    </a:p>
                  </a:txBody>
                  <a:tcPr marL="36576" marR="36576">
                    <a:solidFill>
                      <a:srgbClr val="1E48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Naive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0.6500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0.4694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0.0333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Rerank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0.6500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0.4703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0.0167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CRAG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0.6333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0.3511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0.0167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36576" marR="36576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EGI-RAG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0.7833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0.7755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0.0167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  <a:latin typeface="Microsoft YaHei"/>
                        </a:rPr>
                        <a:t>0.8611</a:t>
                      </a:r>
                    </a:p>
                  </a:txBody>
                  <a:tcPr marL="36576" marR="3657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" y="3474720"/>
            <a:ext cx="3246120" cy="9144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3584448"/>
            <a:ext cx="291693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检索失败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100% noise 时没有正确证据。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474720"/>
            <a:ext cx="3246120" cy="914400"/>
          </a:xfrm>
          <a:prstGeom prst="roundRect">
            <a:avLst/>
          </a:prstGeom>
          <a:solidFill>
            <a:srgbClr val="E5EF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1" y="3584448"/>
            <a:ext cx="291693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误导共现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正确证据与 wrong answer 文档同时相关。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474720"/>
            <a:ext cx="3246120" cy="914400"/>
          </a:xfrm>
          <a:prstGeom prst="roundRect">
            <a:avLst/>
          </a:prstGeom>
          <a:solidFill>
            <a:srgbClr val="FAF0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3584448"/>
            <a:ext cx="291693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过度拒答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EGI-RAG+ 阈值过硬，覆盖率下降。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为什么 EGI-RAG+ 看起来更差？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Microsoft YaHei"/>
              </a:rPr>
              <a:t>它是风险控制型改进，不是直接优化 Answer Accuracy。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4754880" cy="1234440"/>
          </a:xfrm>
          <a:prstGeom prst="roundRect">
            <a:avLst/>
          </a:prstGeom>
          <a:solidFill>
            <a:srgbClr val="EBF8F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618488"/>
            <a:ext cx="442569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收益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RAMDocs 全量 Misinfo Adoption</a:t>
            </a:r>
            <a:br/>
            <a:r>
              <a:t>0.1100 → 0.0080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08760"/>
            <a:ext cx="4754880" cy="1234440"/>
          </a:xfrm>
          <a:prstGeom prst="roundRect">
            <a:avLst/>
          </a:prstGeom>
          <a:solidFill>
            <a:srgbClr val="FCEEEE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18488"/>
            <a:ext cx="442569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代价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RAMDocs 全量 Answer Accuracy</a:t>
            </a:r>
            <a:br/>
            <a:r>
              <a:t>0.5320 → 0.2260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当前 EGI-RAG+ 使用 hard gate：遇到 misleading/contradictory 就更倾向拒答。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这能减少 wrong answer 采纳，但也误拒答了一些有 supportive evidence 的样本。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后续应改成 soft threshold：按证据强度和冲突强度加权。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486E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7899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1E1E"/>
                </a:solidFill>
                <a:latin typeface="Microsoft YaHei"/>
              </a:rPr>
              <a:t>鲁棒 RAG 的关键不是读更多文档，而是只基于可信证据作答。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1E1E"/>
                </a:solidFill>
                <a:latin typeface="Microsoft YaHei"/>
              </a:rPr>
              <a:t>EGI-RAG 在 RGB 与 Custom Noise 上提升明显，并提供可解释 evidence spans。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1E1E"/>
                </a:solidFill>
                <a:latin typeface="Microsoft YaHei"/>
              </a:rPr>
              <a:t>RAMDocs 证明 high-overlap misinfo 比普通 noise 更危险。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1E1E"/>
                </a:solidFill>
                <a:latin typeface="Microsoft YaHei"/>
              </a:rPr>
              <a:t>EGI-RAG+ 有效降低误导采纳，但需要缓解过度拒答。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4800600"/>
            <a:ext cx="8321040" cy="777240"/>
          </a:xfrm>
          <a:prstGeom prst="roundRect">
            <a:avLst/>
          </a:prstGeom>
          <a:solidFill>
            <a:srgbClr val="EBF5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9112" y="4910328"/>
            <a:ext cx="7991856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86E"/>
                </a:solidFill>
                <a:latin typeface="Microsoft YaHei"/>
              </a:rPr>
              <a:t>Takeaway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D2D2D"/>
                </a:solidFill>
                <a:latin typeface="Microsoft YaHei"/>
              </a:rPr>
              <a:t>Evidence first, answer second: trustworthy RAG should answer only from supported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Microsoft YaHei"/>
              </a:rPr>
              <a:t>Robust RAG under Noisy Documents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